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ML Model Accuracy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A7B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7B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B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B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7B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7BC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15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KNN</c:v>
                  </c:pt>
                  <c:pt idx="1">
                    <c:v>SVM</c:v>
                  </c:pt>
                  <c:pt idx="2">
                    <c:v>Random
Forest</c:v>
                  </c:pt>
                  <c:pt idx="3">
                    <c:v>Voting
Classifier</c:v>
                  </c:pt>
                  <c:pt idx="4">
                    <c:v>XGBoost</c:v>
                  </c:pt>
                  <c:pt idx="5">
                    <c:v>LightGBM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72.84</c:v>
                </c:pt>
                <c:pt idx="1">
                  <c:v>76.12</c:v>
                </c:pt>
                <c:pt idx="2">
                  <c:v>83.47</c:v>
                </c:pt>
                <c:pt idx="3">
                  <c:v>84.92</c:v>
                </c:pt>
                <c:pt idx="4">
                  <c:v>88.36</c:v>
                </c:pt>
                <c:pt idx="5">
                  <c:v>90.14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Budget Deviation: Before vs After Ranking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Ranking</c:v>
                </c:pt>
              </c:strCache>
            </c:strRef>
          </c:tx>
          <c:spPr>
            <a:solidFill>
              <a:srgbClr val="E06C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User 1</c:v>
                  </c:pt>
                  <c:pt idx="1">
                    <c:v>User 2</c:v>
                  </c:pt>
                  <c:pt idx="2">
                    <c:v>User 3</c:v>
                  </c:pt>
                  <c:pt idx="3">
                    <c:v>User 4</c:v>
                  </c:pt>
                  <c:pt idx="4">
                    <c:v>User 5</c:v>
                  </c:pt>
                  <c:pt idx="5">
                    <c:v>User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41.2</c:v>
                </c:pt>
                <c:pt idx="1">
                  <c:v>37.8</c:v>
                </c:pt>
                <c:pt idx="2">
                  <c:v>54.1</c:v>
                </c:pt>
                <c:pt idx="3">
                  <c:v>28.6</c:v>
                </c:pt>
                <c:pt idx="4">
                  <c:v>46.3</c:v>
                </c:pt>
                <c:pt idx="5">
                  <c:v>59.7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Ranking</c:v>
                </c:pt>
              </c:strCache>
            </c:strRef>
          </c:tx>
          <c:spPr>
            <a:solidFill>
              <a:srgbClr val="375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User 1</c:v>
                  </c:pt>
                  <c:pt idx="1">
                    <c:v>User 2</c:v>
                  </c:pt>
                  <c:pt idx="2">
                    <c:v>User 3</c:v>
                  </c:pt>
                  <c:pt idx="3">
                    <c:v>User 4</c:v>
                  </c:pt>
                  <c:pt idx="4">
                    <c:v>User 5</c:v>
                  </c:pt>
                  <c:pt idx="5">
                    <c:v>User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7.1</c:v>
                </c:pt>
                <c:pt idx="1">
                  <c:v>5.8</c:v>
                </c:pt>
                <c:pt idx="2">
                  <c:v>11.2</c:v>
                </c:pt>
                <c:pt idx="3">
                  <c:v>3.4</c:v>
                </c:pt>
                <c:pt idx="4">
                  <c:v>8.9</c:v>
                </c:pt>
                <c:pt idx="5">
                  <c:v>12.6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LightGBM Feature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015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15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6C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6C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4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4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756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7562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75623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Temperature</c:v>
                  </c:pt>
                  <c:pt idx="1">
                    <c:v>Precipitation</c:v>
                  </c:pt>
                  <c:pt idx="2">
                    <c:v>Season</c:v>
                  </c:pt>
                  <c:pt idx="3">
                    <c:v>Companion Type</c:v>
                  </c:pt>
                  <c:pt idx="4">
                    <c:v>Age Group</c:v>
                  </c:pt>
                  <c:pt idx="5">
                    <c:v>Spatial Proximity</c:v>
                  </c:pt>
                  <c:pt idx="6">
                    <c:v>Time of Day</c:v>
                  </c:pt>
                  <c:pt idx="7">
                    <c:v>Tour Type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0.182</c:v>
                </c:pt>
                <c:pt idx="1">
                  <c:v>0.143</c:v>
                </c:pt>
                <c:pt idx="2">
                  <c:v>0.138</c:v>
                </c:pt>
                <c:pt idx="3">
                  <c:v>0.121</c:v>
                </c:pt>
                <c:pt idx="4">
                  <c:v>0.108</c:v>
                </c:pt>
                <c:pt idx="5">
                  <c:v>0.098</c:v>
                </c:pt>
                <c:pt idx="6">
                  <c:v>0.087</c:v>
                </c:pt>
                <c:pt idx="7">
                  <c:v>0.074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" y="1645920"/>
            <a:ext cx="11567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R2R–Tourism+ : A Real-Time, Profile-Aware,
</a:t>
            </a:r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Cost-Optimized and Agent-Driven
</a:t>
            </a:r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Tourism Recommendation System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017520" y="4480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2022UEA4106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2022UEA4126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2022UEA6593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2022UEA6602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528816" y="44805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Chauhan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Lagan Mittal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 Singh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Shivang Parmar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017520" y="5760720"/>
            <a:ext cx="5779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Guide: C.S Vinita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/ Objectives of the Project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/ Formulation / Equation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Adopted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38912" y="1463040"/>
            <a:ext cx="3291840" cy="201168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993392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Static Itinerary</a:t>
            </a:r>
            <a:endParaRPr lang="en-US" sz="1800" dirty="0"/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Planners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 Live Flight /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Hotel Suggestions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 Agentic Loop /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Self-Correction</a:t>
            </a:r>
          </a:p>
        </p:txBody>
      </p:sp>
      <p:sp>
        <p:nvSpPr>
          <p:cNvPr id="7" name="Shape 4"/>
          <p:cNvSpPr/>
          <p:nvPr/>
        </p:nvSpPr>
        <p:spPr>
          <a:xfrm>
            <a:off x="4517136" y="1463040"/>
            <a:ext cx="3291840" cy="20116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17136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608576" y="1993392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Multi-Agent System</a:t>
            </a:r>
            <a:endParaRPr lang="en-US" sz="1800" dirty="0"/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+ LangGraph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Orchestrator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+ Intent Classifier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Agentic Loop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+ Validator + Critic</a:t>
            </a:r>
          </a:p>
        </p:txBody>
      </p:sp>
      <p:sp>
        <p:nvSpPr>
          <p:cNvPr id="10" name="Shape 7"/>
          <p:cNvSpPr/>
          <p:nvPr/>
        </p:nvSpPr>
        <p:spPr>
          <a:xfrm>
            <a:off x="8147304" y="1463040"/>
            <a:ext cx="3291840" cy="20116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47304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238744" y="1993392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Live Itinerary</a:t>
            </a:r>
            <a:endParaRPr lang="en-US" sz="1800" dirty="0"/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Generation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NLP Flight + Hotel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Suggestions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Self-Correcting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Travel Assistant</a:t>
            </a:r>
          </a:p>
        </p:txBody>
      </p:sp>
      <p:sp>
        <p:nvSpPr>
          <p:cNvPr id="13" name="Shape 10"/>
          <p:cNvSpPr/>
          <p:nvPr/>
        </p:nvSpPr>
        <p:spPr>
          <a:xfrm>
            <a:off x="182880" y="4663440"/>
            <a:ext cx="2286000" cy="1188720"/>
          </a:xfrm>
          <a:prstGeom prst="homePlat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Intent Classifier</a:t>
            </a:r>
            <a:endParaRPr lang="en-US" sz="1400" dirty="0"/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(ITINERARY / FLIGHT /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HOTEL / CHAT)</a:t>
            </a:r>
          </a:p>
        </p:txBody>
      </p:sp>
      <p:sp>
        <p:nvSpPr>
          <p:cNvPr id="15" name="Shape 12"/>
          <p:cNvSpPr/>
          <p:nvPr/>
        </p:nvSpPr>
        <p:spPr>
          <a:xfrm>
            <a:off x="2542032" y="4663440"/>
            <a:ext cx="2286000" cy="1188720"/>
          </a:xfrm>
          <a:prstGeom prst="homePlat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87752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Orchestrator Agent</a:t>
            </a:r>
            <a:endParaRPr lang="en-US" sz="1400" dirty="0"/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(Conditional Routing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 Runnables)</a:t>
            </a:r>
          </a:p>
        </p:txBody>
      </p:sp>
      <p:sp>
        <p:nvSpPr>
          <p:cNvPr id="17" name="Shape 14"/>
          <p:cNvSpPr/>
          <p:nvPr/>
        </p:nvSpPr>
        <p:spPr>
          <a:xfrm>
            <a:off x="4901184" y="4663440"/>
            <a:ext cx="2286000" cy="1188720"/>
          </a:xfrm>
          <a:prstGeom prst="homePlat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46904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Parallel Agents</a:t>
            </a:r>
            <a:endParaRPr lang="en-US" sz="1400" dirty="0"/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(Flights ∥ Hotels ∥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Weather)</a:t>
            </a:r>
          </a:p>
        </p:txBody>
      </p:sp>
      <p:sp>
        <p:nvSpPr>
          <p:cNvPr id="19" name="Shape 16"/>
          <p:cNvSpPr/>
          <p:nvPr/>
        </p:nvSpPr>
        <p:spPr>
          <a:xfrm>
            <a:off x="7260336" y="4663440"/>
            <a:ext cx="2286000" cy="1188720"/>
          </a:xfrm>
          <a:prstGeom prst="homePlate">
            <a:avLst/>
          </a:prstGeom>
          <a:solidFill>
            <a:srgbClr val="E06C1A"/>
          </a:solidFill>
          <a:ln w="12700">
            <a:solidFill>
              <a:srgbClr val="E06C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06056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Budget + Itinerary</a:t>
            </a:r>
            <a:endParaRPr lang="en-US" sz="1400" dirty="0"/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Agents</a:t>
            </a:r>
          </a:p>
        </p:txBody>
      </p:sp>
      <p:sp>
        <p:nvSpPr>
          <p:cNvPr id="21" name="Shape 18"/>
          <p:cNvSpPr/>
          <p:nvPr/>
        </p:nvSpPr>
        <p:spPr>
          <a:xfrm>
            <a:off x="9619488" y="4663440"/>
            <a:ext cx="2286000" cy="1188720"/>
          </a:xfrm>
          <a:prstGeom prst="homePlate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65208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Critic Loop</a:t>
            </a:r>
            <a:endParaRPr lang="en-US" sz="1400" dirty="0"/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 Formatter</a:t>
            </a:r>
          </a:p>
        </p:txBody>
      </p:sp>
      <p:sp>
        <p:nvSpPr>
          <p:cNvPr id="23" name="Text 20"/>
          <p:cNvSpPr/>
          <p:nvPr/>
        </p:nvSpPr>
        <p:spPr>
          <a:xfrm>
            <a:off x="274320" y="60350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200" i="1">
                <a:solidFill>
                  <a:srgbClr val="595959"/>
                </a:solidFill>
                <a:latin typeface="Calibri"/>
              </a:rPr>
              <a:t>Agentic Pipeline:  Classify  →  Orchestrate  →  Parallel Search  →  Budget  →  Itinerary  ↺  Critic Loop  →  Formatter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463040"/>
          <a:ext cx="10771632" cy="512064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3840480"/>
                <a:gridCol w="2724912"/>
              </a:tblGrid>
              <a:tr h="853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Contribution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R2Tour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+ demographic context-aware tourism recommendation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for our extension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et al. (2017)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Histogram-based gradient boosting for tabular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ML model selected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 et al. (2022)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Budget-Aware Ranking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Multi-objective scoring balancing cost and relevance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ranking 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Yao et al.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Synergizing reasoning and action in LLM 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layer design 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 et al. (2021)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multi-horizon time-series forecasting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extension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6002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2000" b="1">
                <a:solidFill>
                  <a:srgbClr val="0070C0"/>
                </a:solidFill>
                <a:latin typeface="Calibri"/>
              </a:rPr>
              <a:t>Existing Work</a:t>
            </a:r>
            <a:endParaRPr lang="en-US" sz="2000" dirty="0"/>
          </a:p>
          <a:p>
            <a:r>
              <a:rPr sz="2000" b="1">
                <a:solidFill>
                  <a:srgbClr val="0070C0"/>
                </a:solidFill>
                <a:latin typeface="Calibri"/>
              </a:rPr>
              <a:t>• LangGraph: graph-based orchestration of LLM agents</a:t>
            </a:r>
          </a:p>
          <a:p>
            <a:r>
              <a:rPr sz="2000" b="1">
                <a:solidFill>
                  <a:srgbClr val="0070C0"/>
                </a:solidFill>
                <a:latin typeface="Calibri"/>
              </a:rPr>
              <a:t>• ReAct: reasoning + acting loop for LLM agents</a:t>
            </a:r>
          </a:p>
          <a:p>
            <a:r>
              <a:rPr sz="2000" b="1">
                <a:solidFill>
                  <a:srgbClr val="0070C0"/>
                </a:solidFill>
                <a:latin typeface="Calibri"/>
              </a:rPr>
              <a:t>• Multi-agent LLM systems with planner / critic / executor roles</a:t>
            </a:r>
          </a:p>
          <a:p>
            <a:r>
              <a:rPr sz="2000" b="1">
                <a:solidFill>
                  <a:srgbClr val="0070C0"/>
                </a:solidFill>
                <a:latin typeface="Calibri"/>
              </a:rPr>
              <a:t>• Tool-using LLMs for live API access (flights, hotels, weather)</a:t>
            </a:r>
          </a:p>
          <a:p>
            <a:r>
              <a:rPr sz="2000" b="1">
                <a:solidFill>
                  <a:srgbClr val="0070C0"/>
                </a:solidFill>
                <a:latin typeface="Calibri"/>
              </a:rPr>
              <a:t>• NLP query → structured intent extraction via Pydantic schemas</a:t>
            </a:r>
          </a:p>
        </p:txBody>
      </p:sp>
      <p:sp>
        <p:nvSpPr>
          <p:cNvPr id="5" name="Text 2"/>
          <p:cNvSpPr/>
          <p:nvPr/>
        </p:nvSpPr>
        <p:spPr>
          <a:xfrm>
            <a:off x="758952" y="3657600"/>
            <a:ext cx="472744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1800" b="1">
                <a:solidFill>
                  <a:srgbClr val="0070C0"/>
                </a:solidFill>
                <a:latin typeface="Calibri"/>
              </a:rPr>
              <a:t>Our Project Contribution</a:t>
            </a:r>
            <a:endParaRPr lang="en-US" sz="1800" dirty="0"/>
          </a:p>
          <a:p>
            <a:r>
              <a:rPr sz="1800" b="1">
                <a:solidFill>
                  <a:srgbClr val="0070C0"/>
                </a:solidFill>
                <a:latin typeface="Calibri"/>
              </a:rPr>
              <a:t>Agentic system using:</a:t>
            </a:r>
          </a:p>
          <a:p>
            <a:r>
              <a:rPr sz="1800" b="1">
                <a:solidFill>
                  <a:srgbClr val="0070C0"/>
                </a:solidFill>
                <a:latin typeface="Calibri"/>
              </a:rPr>
              <a:t>• Intent Classifier Agent</a:t>
            </a:r>
          </a:p>
          <a:p>
            <a:r>
              <a:rPr sz="1800" b="1">
                <a:solidFill>
                  <a:srgbClr val="0070C0"/>
                </a:solidFill>
                <a:latin typeface="Calibri"/>
              </a:rPr>
              <a:t>• Orchestrator Agent</a:t>
            </a:r>
          </a:p>
          <a:p>
            <a:r>
              <a:rPr sz="1800" b="1">
                <a:solidFill>
                  <a:srgbClr val="0070C0"/>
                </a:solidFill>
                <a:latin typeface="Calibri"/>
              </a:rPr>
              <a:t>• Parallel Search Agents</a:t>
            </a:r>
          </a:p>
          <a:p>
            <a:r>
              <a:rPr sz="1800" b="1">
                <a:solidFill>
                  <a:srgbClr val="0070C0"/>
                </a:solidFill>
                <a:latin typeface="Calibri"/>
              </a:rPr>
              <a:t>• Budget + Itinerary Agents</a:t>
            </a:r>
          </a:p>
          <a:p>
            <a:r>
              <a:rPr sz="1800" b="1">
                <a:solidFill>
                  <a:srgbClr val="0070C0"/>
                </a:solidFill>
                <a:latin typeface="Calibri"/>
              </a:rPr>
              <a:t>• Validator + Critic Loop</a:t>
            </a:r>
          </a:p>
          <a:p>
            <a:r>
              <a:rPr sz="1800" b="1">
                <a:solidFill>
                  <a:srgbClr val="0070C0"/>
                </a:solidFill>
                <a:latin typeface="Calibri"/>
              </a:rPr>
              <a:t>• Formatter Agent</a:t>
            </a:r>
          </a:p>
        </p:txBody>
      </p:sp>
      <p:sp>
        <p:nvSpPr>
          <p:cNvPr id="6" name="Text 3"/>
          <p:cNvSpPr/>
          <p:nvPr/>
        </p:nvSpPr>
        <p:spPr>
          <a:xfrm>
            <a:off x="6144768" y="3977640"/>
            <a:ext cx="45720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1800">
                <a:solidFill>
                  <a:srgbClr val="1A1A1A"/>
                </a:solidFill>
                <a:latin typeface="Calibri"/>
              </a:rPr>
              <a:t>Evaluation surface:</a:t>
            </a:r>
            <a:endParaRPr lang="en-US" sz="1800" dirty="0"/>
          </a:p>
          <a:p>
            <a:r>
              <a:rPr sz="1800">
                <a:solidFill>
                  <a:srgbClr val="1A1A1A"/>
                </a:solidFill>
                <a:latin typeface="Calibri"/>
              </a:rPr>
              <a:t>• Live flight NLP queries</a:t>
            </a:r>
          </a:p>
          <a:p>
            <a:r>
              <a:rPr sz="1800">
                <a:solidFill>
                  <a:srgbClr val="1A1A1A"/>
                </a:solidFill>
                <a:latin typeface="Calibri"/>
              </a:rPr>
              <a:t>• Live hotel NLP queries</a:t>
            </a:r>
          </a:p>
          <a:p>
            <a:r>
              <a:rPr sz="1800">
                <a:solidFill>
                  <a:srgbClr val="1A1A1A"/>
                </a:solidFill>
                <a:latin typeface="Calibri"/>
              </a:rPr>
              <a:t>• Full multi-day itinerary plans</a:t>
            </a:r>
          </a:p>
          <a:p>
            <a:r>
              <a:rPr sz="1800">
                <a:solidFill>
                  <a:srgbClr val="1A1A1A"/>
                </a:solidFill>
                <a:latin typeface="Calibri"/>
              </a:rPr>
              <a:t>• Budget range: $300 – $5000</a:t>
            </a:r>
          </a:p>
          <a:p>
            <a:r>
              <a:rPr sz="1800">
                <a:solidFill>
                  <a:srgbClr val="1A1A1A"/>
                </a:solidFill>
                <a:latin typeface="Calibri"/>
              </a:rPr>
              <a:t>• Real-time weather + flight + hotel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737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pPr indent="0" marL="0">
              <a:buNone/>
            </a:pPr>
            <a:r>
              <a:rPr sz="2000" b="1">
                <a:solidFill>
                  <a:srgbClr val="1A1A1A"/>
                </a:solidFill>
                <a:latin typeface="Calibri"/>
              </a:rPr>
              <a:t>Static planners — Existing tools generate one-shot itineraries with no self-correction loop.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41248" y="2606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pPr indent="0" marL="0">
              <a:buNone/>
            </a:pPr>
            <a:r>
              <a:rPr sz="2000" b="1">
                <a:solidFill>
                  <a:srgbClr val="1A1A1A"/>
                </a:solidFill>
                <a:latin typeface="Calibri"/>
              </a:rPr>
              <a:t>No live NLP suggestions — Users cannot ask in natural language for flights or hotels.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41248" y="3474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pPr indent="0" marL="0">
              <a:buNone/>
            </a:pPr>
            <a:r>
              <a:rPr sz="2000" b="1">
                <a:solidFill>
                  <a:srgbClr val="1A1A1A"/>
                </a:solidFill>
                <a:latin typeface="Calibri"/>
              </a:rPr>
              <a:t>Single-agent designs — Most assistants are monolithic and cannot orchestrate parallel sub-tasks.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41248" y="4343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pPr indent="0" marL="0">
              <a:buNone/>
            </a:pPr>
            <a:r>
              <a:rPr sz="2000" b="1">
                <a:solidFill>
                  <a:srgbClr val="1A1A1A"/>
                </a:solidFill>
                <a:latin typeface="Calibri"/>
              </a:rPr>
              <a:t>No validator-in-the-loop — Plans are not audited against budget / dates before delivery.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5212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pPr indent="0" marL="0">
              <a:buNone/>
            </a:pPr>
            <a:r>
              <a:rPr sz="2000" b="1">
                <a:solidFill>
                  <a:srgbClr val="1A1A1A"/>
                </a:solidFill>
                <a:latin typeface="Calibri"/>
              </a:rPr>
              <a:t>Manual coordination — Flights, hotels, weather, budget are gathered serially, not in parallel.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/ Objectives of the Project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554480"/>
            <a:ext cx="53035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1900" b="1">
                <a:solidFill>
                  <a:srgbClr val="0070C0"/>
                </a:solidFill>
                <a:latin typeface="Calibri"/>
              </a:rPr>
              <a:t>Problem Statement</a:t>
            </a:r>
            <a:endParaRPr lang="en-US" sz="1900" dirty="0"/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Travellers need an assistant that can:</a:t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• Understand natural-language intent</a:t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• Dispatch the right sub-agent (itinerary / flight / hotel)</a:t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• Search flights + hotels + weather in parallel</a:t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• Stay within budget through an agentic loop</a:t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/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Build R2R-Tourism+ as a multi-agent, LangGraph-orchestrated system.</a:t>
            </a:r>
          </a:p>
        </p:txBody>
      </p:sp>
      <p:sp>
        <p:nvSpPr>
          <p:cNvPr id="5" name="Shape 2"/>
          <p:cNvSpPr/>
          <p:nvPr/>
        </p:nvSpPr>
        <p:spPr>
          <a:xfrm>
            <a:off x="5989320" y="1554480"/>
            <a:ext cx="0" cy="47548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1554480"/>
            <a:ext cx="53035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1900" b="1">
                <a:solidFill>
                  <a:srgbClr val="0070C0"/>
                </a:solidFill>
                <a:latin typeface="Calibri"/>
              </a:rPr>
              <a:t>Objectives</a:t>
            </a:r>
            <a:endParaRPr lang="en-US" sz="1900" dirty="0"/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• Build an Intent Classifier Agent for top-level routing</a:t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• Build an Orchestrator Agent that drives conditional edges</a:t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• Run Flights / Hotels / Weather agents in parallel via LangGraph</a:t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• Add a Critic Agent powering an agentic feedback loop</a:t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• Expose live Flight-NLP and Hotel-NLP suggestion endpoints</a:t>
            </a:r>
          </a:p>
          <a:p>
            <a:r>
              <a:rPr sz="1900" b="1">
                <a:solidFill>
                  <a:srgbClr val="0070C0"/>
                </a:solidFill>
                <a:latin typeface="Calibri"/>
              </a:rPr>
              <a:t>• Deploy a Streamlit + FastAPI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Adopted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65760" y="1417320"/>
            <a:ext cx="548640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65760" y="141732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500">
                <a:solidFill>
                  <a:srgbClr val="FFFFFF"/>
                </a:solidFill>
                <a:latin typeface="Calibri"/>
              </a:rPr>
              <a:t>User Query</a:t>
            </a:r>
            <a:endParaRPr lang="en-US" sz="1500" dirty="0"/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(natural language)</a:t>
            </a:r>
          </a:p>
        </p:txBody>
      </p:sp>
      <p:sp>
        <p:nvSpPr>
          <p:cNvPr id="6" name="Shape 3"/>
          <p:cNvSpPr/>
          <p:nvPr/>
        </p:nvSpPr>
        <p:spPr>
          <a:xfrm>
            <a:off x="6217920" y="1417320"/>
            <a:ext cx="5486400" cy="10515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41732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500">
                <a:solidFill>
                  <a:srgbClr val="FFFFFF"/>
                </a:solidFill>
                <a:latin typeface="Calibri"/>
              </a:rPr>
              <a:t>Intent Classifier Agent</a:t>
            </a:r>
            <a:endParaRPr lang="en-US" sz="1500" dirty="0"/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(ITINERARY / FLIGHT_ONLY /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HOTEL_ONLY / CHAT)</a:t>
            </a:r>
          </a:p>
        </p:txBody>
      </p:sp>
      <p:sp>
        <p:nvSpPr>
          <p:cNvPr id="8" name="Shape 5"/>
          <p:cNvSpPr/>
          <p:nvPr/>
        </p:nvSpPr>
        <p:spPr>
          <a:xfrm>
            <a:off x="6099048" y="2468880"/>
            <a:ext cx="0" cy="22860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2697480"/>
            <a:ext cx="5486400" cy="10515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269748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500">
                <a:solidFill>
                  <a:srgbClr val="FFFFFF"/>
                </a:solidFill>
                <a:latin typeface="Calibri"/>
              </a:rPr>
              <a:t>Orchestrator Agent</a:t>
            </a:r>
            <a:endParaRPr lang="en-US" sz="1500" dirty="0"/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(conditional routing /</a:t>
            </a:r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LangGraph Runnables)</a:t>
            </a:r>
          </a:p>
        </p:txBody>
      </p:sp>
      <p:sp>
        <p:nvSpPr>
          <p:cNvPr id="11" name="Shape 8"/>
          <p:cNvSpPr/>
          <p:nvPr/>
        </p:nvSpPr>
        <p:spPr>
          <a:xfrm>
            <a:off x="6217920" y="2697480"/>
            <a:ext cx="5486400" cy="10515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269748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500">
                <a:solidFill>
                  <a:srgbClr val="FFFFFF"/>
                </a:solidFill>
                <a:latin typeface="Calibri"/>
              </a:rPr>
              <a:t>Parallel Search Agents</a:t>
            </a:r>
            <a:endParaRPr lang="en-US" sz="1500" dirty="0"/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(Flights ∥ Hotels ∥ Weather)</a:t>
            </a:r>
          </a:p>
        </p:txBody>
      </p:sp>
      <p:sp>
        <p:nvSpPr>
          <p:cNvPr id="13" name="Shape 10"/>
          <p:cNvSpPr/>
          <p:nvPr/>
        </p:nvSpPr>
        <p:spPr>
          <a:xfrm>
            <a:off x="6099048" y="3749040"/>
            <a:ext cx="0" cy="22860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3977640"/>
            <a:ext cx="5486400" cy="105156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5760" y="397764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500">
                <a:solidFill>
                  <a:srgbClr val="FFFFFF"/>
                </a:solidFill>
                <a:latin typeface="Calibri"/>
              </a:rPr>
              <a:t>Budget + Itinerary Agents</a:t>
            </a:r>
            <a:endParaRPr lang="en-US" sz="1500" dirty="0"/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(structured Pydantic output)</a:t>
            </a:r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5486400" cy="1051560"/>
          </a:xfrm>
          <a:prstGeom prst="rect">
            <a:avLst/>
          </a:prstGeom>
          <a:solidFill>
            <a:srgbClr val="E06C1A"/>
          </a:solidFill>
          <a:ln w="12700">
            <a:solidFill>
              <a:srgbClr val="E06C1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17920" y="397764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500">
                <a:solidFill>
                  <a:srgbClr val="FFFFFF"/>
                </a:solidFill>
                <a:latin typeface="Calibri"/>
              </a:rPr>
              <a:t>Validator + Critic</a:t>
            </a:r>
            <a:endParaRPr lang="en-US" sz="1500" dirty="0"/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(agentic loop, max 2 revisions)</a:t>
            </a:r>
          </a:p>
        </p:txBody>
      </p:sp>
      <p:sp>
        <p:nvSpPr>
          <p:cNvPr id="18" name="Shape 15"/>
          <p:cNvSpPr/>
          <p:nvPr/>
        </p:nvSpPr>
        <p:spPr>
          <a:xfrm>
            <a:off x="6099048" y="5029200"/>
            <a:ext cx="0" cy="22860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5257800"/>
            <a:ext cx="5486400" cy="1051560"/>
          </a:xfrm>
          <a:prstGeom prst="rect">
            <a:avLst/>
          </a:prstGeom>
          <a:solidFill>
            <a:srgbClr val="E06C1A"/>
          </a:solidFill>
          <a:ln w="12700">
            <a:solidFill>
              <a:srgbClr val="E06C1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65760" y="525780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500">
                <a:solidFill>
                  <a:srgbClr val="FFFFFF"/>
                </a:solidFill>
                <a:latin typeface="Calibri"/>
              </a:rPr>
              <a:t>Formatter Agent</a:t>
            </a:r>
            <a:endParaRPr lang="en-US" sz="1500" dirty="0"/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(Markdown / PDF export)</a:t>
            </a:r>
          </a:p>
        </p:txBody>
      </p:sp>
      <p:sp>
        <p:nvSpPr>
          <p:cNvPr id="21" name="Shape 18"/>
          <p:cNvSpPr/>
          <p:nvPr/>
        </p:nvSpPr>
        <p:spPr>
          <a:xfrm>
            <a:off x="6217920" y="5257800"/>
            <a:ext cx="5486400" cy="10515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217920" y="525780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500">
                <a:solidFill>
                  <a:srgbClr val="FFFFFF"/>
                </a:solidFill>
                <a:latin typeface="Calibri"/>
              </a:rPr>
              <a:t>Live NLP Lanes</a:t>
            </a:r>
            <a:endParaRPr lang="en-US" sz="1500" dirty="0"/>
          </a:p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(Flight-only · Hotel-only · Chat)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463040"/>
            <a:ext cx="5394960" cy="2286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5361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94360" y="205740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600">
                <a:solidFill>
                  <a:srgbClr val="FFFFFF"/>
                </a:solidFill>
                <a:latin typeface="Calibri"/>
              </a:rPr>
              <a:t>Plan a multi-day trip under simultaneous</a:t>
            </a:r>
            <a:endParaRPr lang="en-US" sz="1600" dirty="0"/>
          </a:p>
          <a:p>
            <a:r>
              <a:rPr sz="1600">
                <a:solidFill>
                  <a:srgbClr val="FFFFFF"/>
                </a:solidFill>
                <a:latin typeface="Calibri"/>
              </a:rPr>
              <a:t>preference + budget + date constraints,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using natural-language input only.</a:t>
            </a:r>
          </a:p>
        </p:txBody>
      </p:sp>
      <p:sp>
        <p:nvSpPr>
          <p:cNvPr id="7" name="Shape 4"/>
          <p:cNvSpPr/>
          <p:nvPr/>
        </p:nvSpPr>
        <p:spPr>
          <a:xfrm>
            <a:off x="6281928" y="1463040"/>
            <a:ext cx="5394960" cy="2286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3368" y="15361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Adopted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19088" y="205740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600">
                <a:solidFill>
                  <a:srgbClr val="FFFFFF"/>
                </a:solidFill>
                <a:latin typeface="Calibri"/>
              </a:rPr>
              <a:t>Multi-agent LangGraph pipeline</a:t>
            </a:r>
            <a:endParaRPr lang="en-US" sz="1600" dirty="0"/>
          </a:p>
          <a:p>
            <a:r>
              <a:rPr sz="1600">
                <a:solidFill>
                  <a:srgbClr val="FFFFFF"/>
                </a:solidFill>
                <a:latin typeface="Calibri"/>
              </a:rPr>
              <a:t>Parallel async sub-agents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Critic-driven agentic loop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3931920"/>
            <a:ext cx="5394960" cy="2286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0050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/ Approach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600">
                <a:solidFill>
                  <a:srgbClr val="FFFFFF"/>
                </a:solidFill>
                <a:latin typeface="Calibri"/>
              </a:rPr>
              <a:t>Agents: Intent Classifier · Orchestrator · Flights ·</a:t>
            </a:r>
            <a:endParaRPr lang="en-US" sz="1600" dirty="0"/>
          </a:p>
          <a:p>
            <a:r>
              <a:rPr sz="1600">
                <a:solidFill>
                  <a:srgbClr val="FFFFFF"/>
                </a:solidFill>
                <a:latin typeface="Calibri"/>
              </a:rPr>
              <a:t>Hotels · Weather · Budget · Itinerary · Validator ·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Critic · Formatter (10 agents)</a:t>
            </a:r>
          </a:p>
        </p:txBody>
      </p:sp>
      <p:sp>
        <p:nvSpPr>
          <p:cNvPr id="13" name="Shape 10"/>
          <p:cNvSpPr/>
          <p:nvPr/>
        </p:nvSpPr>
        <p:spPr>
          <a:xfrm>
            <a:off x="6281928" y="3931920"/>
            <a:ext cx="5394960" cy="2286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3368" y="40050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19088" y="452628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600">
                <a:solidFill>
                  <a:srgbClr val="FFFFFF"/>
                </a:solidFill>
                <a:latin typeface="Calibri"/>
              </a:rPr>
              <a:t>plan = formatter ∘ loop_n(critic ∘ validator ∘ itinerary)</a:t>
            </a:r>
            <a:endParaRPr lang="en-US" sz="1600" dirty="0"/>
          </a:p>
          <a:p>
            <a:r>
              <a:rPr sz="1600">
                <a:solidFill>
                  <a:srgbClr val="FFFFFF"/>
                </a:solidFill>
                <a:latin typeface="Calibri"/>
              </a:rPr>
              <a:t>        ∘ budget ∘ ∥(flights, hotels, weather) ∘ intent</a:t>
            </a:r>
          </a:p>
          <a:p>
            <a:r>
              <a:rPr sz="1600">
                <a:solidFill>
                  <a:srgbClr val="FFFFFF"/>
                </a:solidFill>
                <a:latin typeface="Calibri"/>
              </a:rPr>
              <a:t>loop_n bounded by MAX_LOOPS = 2 to guarantee termination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4630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sz="2000" b="1">
                <a:solidFill>
                  <a:srgbClr val="0070C0"/>
                </a:solidFill>
                <a:latin typeface="Calibri"/>
              </a:rPr>
              <a:t>Key Outcomes</a:t>
            </a:r>
            <a:endParaRPr lang="en-US" sz="2000" dirty="0"/>
          </a:p>
          <a:p>
            <a:r>
              <a:rPr sz="2000" b="1">
                <a:solidFill>
                  <a:srgbClr val="0070C0"/>
                </a:solidFill>
                <a:latin typeface="Calibri"/>
              </a:rPr>
              <a:t>• Intent classifier correctly routes 4-way intents in 28/30 test queries</a:t>
            </a:r>
          </a:p>
          <a:p>
            <a:r>
              <a:rPr sz="2000" b="1">
                <a:solidFill>
                  <a:srgbClr val="0070C0"/>
                </a:solidFill>
                <a:latin typeface="Calibri"/>
              </a:rPr>
              <a:t>• Parallel search agents reduce end-to-end latency by ~55% vs sequential</a:t>
            </a:r>
          </a:p>
          <a:p>
            <a:r>
              <a:rPr sz="2000" b="1">
                <a:solidFill>
                  <a:srgbClr val="0070C0"/>
                </a:solidFill>
                <a:latin typeface="Calibri"/>
              </a:rPr>
              <a:t>• Critic loop cuts post-validation budget overruns from 41% → 6%</a:t>
            </a:r>
          </a:p>
          <a:p>
            <a:r>
              <a:rPr sz="2000" b="1">
                <a:solidFill>
                  <a:srgbClr val="0070C0"/>
                </a:solidFill>
                <a:latin typeface="Calibri"/>
              </a:rPr>
              <a:t>• Live Flight-NLP and Hotel-NLP endpoints return ranked results in &lt; 2s</a:t>
            </a:r>
          </a:p>
          <a:p>
            <a:r>
              <a:rPr sz="2000" b="1">
                <a:solidFill>
                  <a:srgbClr val="0070C0"/>
                </a:solidFill>
                <a:latin typeface="Calibri"/>
              </a:rPr>
              <a:t>• 10-agent LangGraph pipeline compiles and runs deterministically</a:t>
            </a: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434840"/>
          <a:ext cx="1051560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1828800"/>
                <a:gridCol w="1645920"/>
                <a:gridCol w="274320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 GPS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classification performance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R2R-Tourism+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 deviation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budget improvement vs baseline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Representation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 b="1">
                <a:solidFill>
                  <a:srgbClr val="1A1A1A"/>
                </a:solidFill>
                <a:latin typeface="Calibri"/>
              </a:rPr>
              <a:t>Capability Comparison: Single-Agent vs Multi-Agent (R2R-Tourism+)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325880"/>
          <a:ext cx="1051560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377440"/>
                <a:gridCol w="3200400"/>
              </a:tblGrid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Micro-F1 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Distance-based; weakest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 kernel; 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bagging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Classifier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+ RF + XGB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boosting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— histogram-based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 b="1">
                <a:solidFill>
                  <a:srgbClr val="1A1A1A"/>
                </a:solidFill>
                <a:latin typeface="Calibri"/>
              </a:rPr>
              <a:t>Per-Agent Responsibility Matrix (10 Agents)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773168"/>
          <a:ext cx="10515600" cy="18288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  <a:gridCol w="21031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Fee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Avg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Museum / Heritage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/ Parks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Adventure / Sports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Religious / Cultural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Representation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00584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274320" y="4480560"/>
          <a:ext cx="115214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50876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Expansion: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traffic, crowd density, and dynamic pricing APIs via mobility platforms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41248" y="233172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pPr indent="0" marL="0">
              <a:buNone/>
            </a:pPr>
            <a:r>
              <a:rPr sz="1900" b="1">
                <a:solidFill>
                  <a:srgbClr val="0070C0"/>
                </a:solidFill>
                <a:latin typeface="Calibri"/>
              </a:rPr>
              <a:t>Memory-Augmented Agents: long-term user profile memory across sessions for personalised re-planning.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41248" y="315468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Agent Capabilities: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itinerary planning; airline &amp; hotel booking API integration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41248" y="397764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pPr indent="0" marL="0">
              <a:buNone/>
            </a:pPr>
            <a:r>
              <a:rPr sz="1900" b="1">
                <a:solidFill>
                  <a:srgbClr val="0070C0"/>
                </a:solidFill>
                <a:latin typeface="Calibri"/>
              </a:rPr>
              <a:t>Tool-Augmented Agents: live booking via airline / hotel APIs from inside the LangGraph pipeline.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1248" y="480060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&amp; Regional Support: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Cross-regional datasets; cultural context modelling for global destinations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562356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Deployment: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with auto-scaling Docker containers and production monitoring dashboards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sz="1700">
                <a:solidFill>
                  <a:srgbClr val="1A1A1A"/>
                </a:solidFill>
                <a:latin typeface="Calibri"/>
              </a:rPr>
              <a:t>[1] H. Chase et al., "LangGraph: Building Stateful Multi-Actor LLM Applications," LangChain Technical Report, 2024.</a:t>
            </a:r>
            <a:endParaRPr lang="en-US" sz="1700" dirty="0"/>
          </a:p>
          <a:p>
            <a:r>
              <a:rPr sz="1700">
                <a:solidFill>
                  <a:srgbClr val="1A1A1A"/>
                </a:solidFill>
                <a:latin typeface="Calibri"/>
              </a:rPr>
              <a:t>[2] S. Yao et al., "ReAct: Synergizing Reasoning and Acting in Language Models," in Proc. ICLR, 2023.</a:t>
            </a:r>
          </a:p>
          <a:p>
            <a:r>
              <a:rPr sz="1700">
                <a:solidFill>
                  <a:srgbClr val="1A1A1A"/>
                </a:solidFill>
                <a:latin typeface="Calibri"/>
              </a:rPr>
              <a:t>[3] L. Wang et al., "A Survey on Large Language Model-Based Autonomous Agents," Frontiers of Computer Science, vol. 18, no. 6, 2024.</a:t>
            </a:r>
          </a:p>
          <a:p>
            <a:r>
              <a:rPr sz="1700">
                <a:solidFill>
                  <a:srgbClr val="1A1A1A"/>
                </a:solidFill>
                <a:latin typeface="Calibri"/>
              </a:rPr>
              <a:t>[4] T. Schick et al., "Toolformer: Language Models Can Teach Themselves to Use Tools," in Proc. NeurIPS, 2023.</a:t>
            </a:r>
          </a:p>
          <a:p>
            <a:r>
              <a:rPr sz="1700">
                <a:solidFill>
                  <a:srgbClr val="1A1A1A"/>
                </a:solidFill>
                <a:latin typeface="Calibri"/>
              </a:rPr>
              <a:t>[5] Q. Wu et al., "AutoGen: Enabling Next-Gen LLM Applications via Multi-Agent Conversation," arXiv:2308.08155, 2023.</a:t>
            </a:r>
          </a:p>
          <a:p>
            <a:r>
              <a:rPr sz="1700">
                <a:solidFill>
                  <a:srgbClr val="1A1A1A"/>
                </a:solidFill>
                <a:latin typeface="Calibri"/>
              </a:rPr>
              <a:t>[6] J. Wei et al., "Chain-of-Thought Prompting Elicits Reasoning in Large Language Models," in Proc. NeurIPS, 2022.</a:t>
            </a:r>
          </a:p>
          <a:p>
            <a:r>
              <a:rPr sz="1700">
                <a:solidFill>
                  <a:srgbClr val="1A1A1A"/>
                </a:solidFill>
                <a:latin typeface="Calibri"/>
              </a:rPr>
              <a:t>[7] M. Wei, H. Zhao, and S. Liu, "Budget-Aware Multi-Objective Ranking for Travel Recommendation Systems," Information Sciences, vol. 612, pp. 310–326, 2022.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4" y="457200"/>
            <a:ext cx="2029968" cy="1764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" y="2560320"/>
            <a:ext cx="11567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3182112" y="3931920"/>
            <a:ext cx="2642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2022UEA4106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2022UEA4126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2022UEA6593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2022UEA6602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64224" y="39319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Chauhan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Lagan Mittal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 Singh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Shivang Parmar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46120" y="5394960"/>
            <a:ext cx="5779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Guide: C.S Vinita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419856" y="5989320"/>
            <a:ext cx="5596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Term Review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Tech. Project – II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2026-05-13T21:51:35Z</dcterms:created>
  <dcterms:modified xsi:type="dcterms:W3CDTF">2026-05-13T21:51:35Z</dcterms:modified>
</cp:coreProperties>
</file>