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00000"/>
                </a:solidFill>
                <a:latin typeface="Arial"/>
              </a:rPr>
              <a:t>ML Model Accuracy Comparison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4A7BC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7BC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7BC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7BC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7BC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A7BC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0152B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KNN</c:v>
                  </c:pt>
                  <c:pt idx="1">
                    <c:v>SVM</c:v>
                  </c:pt>
                  <c:pt idx="2">
                    <c:v>Random
Forest</c:v>
                  </c:pt>
                  <c:pt idx="3">
                    <c:v>Voting
Classifier</c:v>
                  </c:pt>
                  <c:pt idx="4">
                    <c:v>XGBoost</c:v>
                  </c:pt>
                  <c:pt idx="5">
                    <c:v>LightGBM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72.84</c:v>
                </c:pt>
                <c:pt idx="1">
                  <c:v>76.12</c:v>
                </c:pt>
                <c:pt idx="2">
                  <c:v>83.47</c:v>
                </c:pt>
                <c:pt idx="3">
                  <c:v>84.92</c:v>
                </c:pt>
                <c:pt idx="4">
                  <c:v>88.36</c:v>
                </c:pt>
                <c:pt idx="5">
                  <c:v>90.14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5"/>
          <c:min val="6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00000"/>
                </a:solidFill>
                <a:latin typeface="Arial"/>
              </a:rPr>
              <a:t>Budget Deviation: Before vs After Ranking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 Ranking</c:v>
                </c:pt>
              </c:strCache>
            </c:strRef>
          </c:tx>
          <c:spPr>
            <a:solidFill>
              <a:srgbClr val="E06C1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User 1</c:v>
                  </c:pt>
                  <c:pt idx="1">
                    <c:v>User 2</c:v>
                  </c:pt>
                  <c:pt idx="2">
                    <c:v>User 3</c:v>
                  </c:pt>
                  <c:pt idx="3">
                    <c:v>User 4</c:v>
                  </c:pt>
                  <c:pt idx="4">
                    <c:v>User 5</c:v>
                  </c:pt>
                  <c:pt idx="5">
                    <c:v>User 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41.2</c:v>
                </c:pt>
                <c:pt idx="1">
                  <c:v>37.8</c:v>
                </c:pt>
                <c:pt idx="2">
                  <c:v>54.1</c:v>
                </c:pt>
                <c:pt idx="3">
                  <c:v>28.6</c:v>
                </c:pt>
                <c:pt idx="4">
                  <c:v>46.3</c:v>
                </c:pt>
                <c:pt idx="5">
                  <c:v>59.7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Ranking</c:v>
                </c:pt>
              </c:strCache>
            </c:strRef>
          </c:tx>
          <c:spPr>
            <a:solidFill>
              <a:srgbClr val="3756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User 1</c:v>
                  </c:pt>
                  <c:pt idx="1">
                    <c:v>User 2</c:v>
                  </c:pt>
                  <c:pt idx="2">
                    <c:v>User 3</c:v>
                  </c:pt>
                  <c:pt idx="3">
                    <c:v>User 4</c:v>
                  </c:pt>
                  <c:pt idx="4">
                    <c:v>User 5</c:v>
                  </c:pt>
                  <c:pt idx="5">
                    <c:v>User 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7.1</c:v>
                </c:pt>
                <c:pt idx="1">
                  <c:v>5.8</c:v>
                </c:pt>
                <c:pt idx="2">
                  <c:v>11.2</c:v>
                </c:pt>
                <c:pt idx="3">
                  <c:v>3.4</c:v>
                </c:pt>
                <c:pt idx="4">
                  <c:v>8.9</c:v>
                </c:pt>
                <c:pt idx="5">
                  <c:v>12.6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00000"/>
                </a:solidFill>
                <a:latin typeface="Arial"/>
              </a:rPr>
              <a:t>LightGBM Feature Importance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C015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15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06C1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06C1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74B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E74B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37562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375623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375623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Temperature</c:v>
                  </c:pt>
                  <c:pt idx="1">
                    <c:v>Precipitation</c:v>
                  </c:pt>
                  <c:pt idx="2">
                    <c:v>Season</c:v>
                  </c:pt>
                  <c:pt idx="3">
                    <c:v>Companion Type</c:v>
                  </c:pt>
                  <c:pt idx="4">
                    <c:v>Age Group</c:v>
                  </c:pt>
                  <c:pt idx="5">
                    <c:v>Spatial Proximity</c:v>
                  </c:pt>
                  <c:pt idx="6">
                    <c:v>Time of Day</c:v>
                  </c:pt>
                  <c:pt idx="7">
                    <c:v>Tour Type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0.182</c:v>
                </c:pt>
                <c:pt idx="1">
                  <c:v>0.143</c:v>
                </c:pt>
                <c:pt idx="2">
                  <c:v>0.138</c:v>
                </c:pt>
                <c:pt idx="3">
                  <c:v>0.121</c:v>
                </c:pt>
                <c:pt idx="4">
                  <c:v>0.108</c:v>
                </c:pt>
                <c:pt idx="5">
                  <c:v>0.098</c:v>
                </c:pt>
                <c:pt idx="6">
                  <c:v>0.087</c:v>
                </c:pt>
                <c:pt idx="7">
                  <c:v>0.074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3" Type="http://schemas.openxmlformats.org/officeDocument/2006/relationships/chart" Target="/ppt/charts/chart2.xml"/><Relationship Id="rId4" Type="http://schemas.openxmlformats.org/officeDocument/2006/relationships/chart" Target="/ppt/charts/chart3.xml"/><Relationship Id="rId1" Type="http://schemas.openxmlformats.org/officeDocument/2006/relationships/image" Target="../media/image-12-1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228600"/>
            <a:ext cx="1252728" cy="1143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10896" y="1645920"/>
            <a:ext cx="11567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R2R–Tourism+ : A Real-Time, Profile-Aware,
</a:t>
            </a:r>
            <a:pPr algn="ctr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Cost-Optimized and Agent-Driven
</a:t>
            </a:r>
            <a:pPr algn="ctr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Tourism Recommendation System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3017520" y="448056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2022UEA4106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2022UEA4126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2022UEA6593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2022UEA6602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528816" y="448056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Krishna Chauhan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Lagan Mittal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Yuvraj Singh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Shivang Parmar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3017520" y="5760720"/>
            <a:ext cx="5779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Guide: C.S Vinita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228600"/>
            <a:ext cx="1252728" cy="1143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3657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841248" y="164592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Identified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Aims / Objectives of the Project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/ Formulation / Equation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Methodology Adopted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228600"/>
            <a:ext cx="1252728" cy="1143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3657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38912" y="1463040"/>
            <a:ext cx="3291840" cy="2011680"/>
          </a:xfrm>
          <a:prstGeom prst="rect">
            <a:avLst/>
          </a:prstGeom>
          <a:solidFill>
            <a:srgbClr val="C0152B"/>
          </a:solidFill>
          <a:ln w="12700">
            <a:solidFill>
              <a:srgbClr val="C0152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38912" y="14630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30352" y="1993392"/>
            <a:ext cx="31089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Budget-Unaware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Execution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517136" y="1463040"/>
            <a:ext cx="3291840" cy="201168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17136" y="14630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608576" y="1993392"/>
            <a:ext cx="31089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Cost-Aware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Layer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147304" y="1463040"/>
            <a:ext cx="3291840" cy="201168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147304" y="14630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8238744" y="1993392"/>
            <a:ext cx="31089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Budget-Conforming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Action-Capable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Assistant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182880" y="4663440"/>
            <a:ext cx="2286000" cy="1188720"/>
          </a:xfrm>
          <a:prstGeom prst="homePlate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8600" y="475488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Budget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2542032" y="4663440"/>
            <a:ext cx="2286000" cy="1188720"/>
          </a:xfrm>
          <a:prstGeom prst="homePlat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587752" y="475488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Features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(Weather/GPS)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901184" y="4663440"/>
            <a:ext cx="2286000" cy="1188720"/>
          </a:xfrm>
          <a:prstGeom prst="homePlat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46904" y="475488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Prediction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(LightGBM)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260336" y="4663440"/>
            <a:ext cx="2286000" cy="1188720"/>
          </a:xfrm>
          <a:prstGeom prst="homePlate">
            <a:avLst/>
          </a:prstGeom>
          <a:solidFill>
            <a:srgbClr val="E06C1A"/>
          </a:solidFill>
          <a:ln w="12700">
            <a:solidFill>
              <a:srgbClr val="E06C1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06056" y="475488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Cost-Aware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9619488" y="4663440"/>
            <a:ext cx="2286000" cy="1188720"/>
          </a:xfrm>
          <a:prstGeom prst="homePlate">
            <a:avLst/>
          </a:prstGeom>
          <a:solidFill>
            <a:srgbClr val="C0152B"/>
          </a:solidFill>
          <a:ln w="12700">
            <a:solidFill>
              <a:srgbClr val="C0152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65208" y="475488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Layer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(Real-Time)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274320" y="603504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Pipeline: Context → Prediction → Cost-Optimization → Agent Action → Recommendations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228600"/>
            <a:ext cx="1252728" cy="1143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3657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" y="1463040"/>
          <a:ext cx="10771632" cy="5120640"/>
        </p:xfrm>
        <a:graphic>
          <a:graphicData uri="http://schemas.openxmlformats.org/drawingml/2006/table">
            <a:tbl>
              <a:tblPr/>
              <a:tblGrid>
                <a:gridCol w="2011680"/>
                <a:gridCol w="2194560"/>
                <a:gridCol w="3840480"/>
                <a:gridCol w="2724912"/>
              </a:tblGrid>
              <a:tr h="8534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Contribution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Relevance to Project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Zhang et al. (2023)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R2Tour Framework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GPS + demographic context-aware tourism recommendation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for our extension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 et al. (2017)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Histogram-based gradient boosting for tabular 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ML model selected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 et al. (2022)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Budget-Aware Ranking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Multi-objective scoring balancing cost and relevance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Informs ranking formula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Yao et al. (2023)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Framework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Synergizing reasoning and action in LLM agents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layer design basis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 et al. (2021)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 Fusion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Interpretable multi-horizon time-series forecasting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Future extension path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228600"/>
            <a:ext cx="1252728" cy="1143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3657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841248" y="160020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Work
</a:t>
            </a:r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Context-aware tourism using GPS trajectories (R2Tour)
</a:t>
            </a:r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Gradient boosted models for structured prediction
</a:t>
            </a:r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Budget-aware recommendation with multi-objective ranking
</a:t>
            </a:r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LLM-based agents for reasoning and action execution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758952" y="3657600"/>
            <a:ext cx="4727448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Project Contribution
</a:t>
            </a:r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study of:
</a:t>
            </a:r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KNN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SVM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Random Forest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Voting Classifier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XGBoost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LightGBM (Selected)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144768" y="3977640"/>
            <a:ext cx="457200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of:
</a:t>
            </a:r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GPS + Demographic tourism dataset
</a:t>
            </a:r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 attraction categories
</a:t>
            </a:r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Budget: ₹300 – ₹2000 range
</a:t>
            </a:r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weather + pricing APIs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228600"/>
            <a:ext cx="1252728" cy="1143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3657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Identified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841248" y="1737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constraints largely overlooked — </a:t>
            </a:r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 do not optimise for financial feasibility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41248" y="26060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action execution — </a:t>
            </a:r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operate as passive prediction engines only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41248" y="34747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Outdated price information — </a:t>
            </a:r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datasets; no live API integration for pricing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41248" y="43434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booking friction — </a:t>
            </a:r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must verify prices and book on separate platforms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41248" y="52120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autonomous agent integration — </a:t>
            </a:r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perception–reason–action cycle in tourism AI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228600"/>
            <a:ext cx="1252728" cy="1143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3657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Aims / Objectives of the Project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48640" y="1554480"/>
            <a:ext cx="5303520" cy="5120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
</a:t>
            </a:r>
            <a:pPr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Tourists struggle to select attractions that satisfy:
</a:t>
            </a:r>
            <a:pPr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Personal preferences
</a:t>
            </a:r>
            <a:pPr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Financial constraints
</a:t>
            </a:r>
            <a:pPr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contextual conditions
</a:t>
            </a:r>
            <a:pPr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Logistical feasibility
</a:t>
            </a:r>
            <a:pPr indent="0" marL="0">
              <a:buNone/>
            </a:pPr>
            <a:r>
              <a:rPr lang="en-US" sz="1900" b="1" dirty="0">
                <a:solidFill>
                  <a:srgbClr val="C0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R2R-Tourism+ for improved, budget-aware, action-capable tourism recommendations.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5989320" y="1554480"/>
            <a:ext cx="0" cy="475488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217920" y="1554480"/>
            <a:ext cx="5303520" cy="5120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
</a:t>
            </a:r>
            <a:pPr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Develop context + demographic + budget ML system
</a:t>
            </a:r>
            <a:pPr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Train LightGBM as primary attraction predictor
</a:t>
            </a:r>
            <a:pPr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Implement structured cost estimation module
</a:t>
            </a:r>
            <a:pPr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Design budget-aware multi-objective ranking
</a:t>
            </a:r>
            <a:pPr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 agent layer for weather, pricing, booking
</a:t>
            </a:r>
            <a:pPr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Deploy interactive Streamlit + FastAPI interface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228600"/>
            <a:ext cx="1252728" cy="1143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3657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Methodology Adopted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365760" y="1417320"/>
            <a:ext cx="5486400" cy="10515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365760" y="1417320"/>
            <a:ext cx="5486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Collection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(GPS + Demographics + Weather + Cost)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217920" y="1417320"/>
            <a:ext cx="5486400" cy="105156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217920" y="1417320"/>
            <a:ext cx="5486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(28 features: temporal, spatial, contextual)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099048" y="2468880"/>
            <a:ext cx="0" cy="22860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5760" y="2697480"/>
            <a:ext cx="5486400" cy="105156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65760" y="2697480"/>
            <a:ext cx="5486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(85% Train / 15% Test — Temporal)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217920" y="2697480"/>
            <a:ext cx="5486400" cy="105156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217920" y="2697480"/>
            <a:ext cx="5486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 Models Compared)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099048" y="3749040"/>
            <a:ext cx="0" cy="22860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65760" y="3977640"/>
            <a:ext cx="5486400" cy="1051560"/>
          </a:xfrm>
          <a:prstGeom prst="rect">
            <a:avLst/>
          </a:prstGeom>
          <a:solidFill>
            <a:srgbClr val="C0152B"/>
          </a:solidFill>
          <a:ln w="12700">
            <a:solidFill>
              <a:srgbClr val="C0152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65760" y="3977640"/>
            <a:ext cx="5486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Selected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(90.14% Accuracy, 0.901 F1)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217920" y="3977640"/>
            <a:ext cx="5486400" cy="1051560"/>
          </a:xfrm>
          <a:prstGeom prst="rect">
            <a:avLst/>
          </a:prstGeom>
          <a:solidFill>
            <a:srgbClr val="E06C1A"/>
          </a:solidFill>
          <a:ln w="12700">
            <a:solidFill>
              <a:srgbClr val="E06C1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217920" y="3977640"/>
            <a:ext cx="5486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Estimation Layer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C_total = C_entry + C_food + C_transport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099048" y="5029200"/>
            <a:ext cx="0" cy="22860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65760" y="5257800"/>
            <a:ext cx="5486400" cy="1051560"/>
          </a:xfrm>
          <a:prstGeom prst="rect">
            <a:avLst/>
          </a:prstGeom>
          <a:solidFill>
            <a:srgbClr val="E06C1A"/>
          </a:solidFill>
          <a:ln w="12700">
            <a:solidFill>
              <a:srgbClr val="E06C1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365760" y="5257800"/>
            <a:ext cx="5486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Budget-Aware Ranking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S_final = α × S_ctx + (1−α) × S_budget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6217920" y="5257800"/>
            <a:ext cx="5486400" cy="105156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217920" y="5257800"/>
            <a:ext cx="5486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Layer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(Weather → Price → Ticket → Booking)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228600"/>
            <a:ext cx="1252728" cy="1143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3657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Formulation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463040"/>
            <a:ext cx="5394960" cy="228600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1536192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Formulation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94360" y="2057400"/>
            <a:ext cx="51206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Attraction selection under simultaneous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 + budget + context constraints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autonomous real-time execution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281928" y="1463040"/>
            <a:ext cx="5394960" cy="22860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73368" y="1536192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Adopted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419088" y="2057400"/>
            <a:ext cx="51206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+ demographic feature fusion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multi-class prediction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Multi-objective budget-aware ranking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57200" y="3931920"/>
            <a:ext cx="5394960" cy="22860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4005072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/ Approach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51206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— primary classifier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layer: C_total = C_entry + C_food + C_transport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Agent: ReAct perception–reason–action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281928" y="3931920"/>
            <a:ext cx="5394960" cy="2286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73368" y="4005072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Formulation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6419088" y="4526280"/>
            <a:ext cx="51206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S_final = α × S_ctx + (1−α) × S_budget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S_budget = 1 − |C_total − B| / B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0.6 (tunable)   B = user budget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228600"/>
            <a:ext cx="1252728" cy="1143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3657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841248" y="146304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Outcomes
</a:t>
            </a:r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LightGBM achieved 90.14% accuracy and 0.901 Micro-F1 — best among 6 models
</a:t>
            </a:r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Budget deviation reduced from 43.5% → 8.7% (80% improvement)
</a:t>
            </a:r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 layer performed correctly in 30/30 test sessions
</a:t>
            </a:r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weather &amp; price retrieval within &lt; 1.5 sec end-to-end latency</a:t>
            </a:r>
            <a:endParaRPr lang="en-US" sz="2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4434840"/>
          <a:ext cx="10515600" cy="1737360"/>
        </p:xfrm>
        <a:graphic>
          <a:graphicData uri="http://schemas.openxmlformats.org/drawingml/2006/table">
            <a:tbl>
              <a:tblPr/>
              <a:tblGrid>
                <a:gridCol w="2011680"/>
                <a:gridCol w="2286000"/>
                <a:gridCol w="1828800"/>
                <a:gridCol w="1645920"/>
                <a:gridCol w="2743200"/>
              </a:tblGrid>
              <a:tr h="579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Model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Micro-F1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Tourism GPS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90.14%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classification performance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Test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R2R-Tourism+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8.7% deviation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 budget improvement vs baseline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228600"/>
            <a:ext cx="1252728" cy="1143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914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Representation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137160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Comparison of Machine Learning Models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325880"/>
          <a:ext cx="10515600" cy="2926080"/>
        </p:xfrm>
        <a:graphic>
          <a:graphicData uri="http://schemas.openxmlformats.org/drawingml/2006/table">
            <a:tbl>
              <a:tblPr/>
              <a:tblGrid>
                <a:gridCol w="2560320"/>
                <a:gridCol w="2377440"/>
                <a:gridCol w="2377440"/>
                <a:gridCol w="3200400"/>
              </a:tblGrid>
              <a:tr h="4180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(%)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Micro-F1 Score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72.84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Distance-based; weakest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RBF kernel; moderate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83.47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Ensemble bagging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Voting Classifier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84.92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+ RF + XGB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88.36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Sequential boosting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1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 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1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90.14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1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1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Selected — histogram-based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1371600" y="4389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Component Behaviour Across Attraction Categories (₹)</a:t>
            </a:r>
            <a:endParaRPr lang="en-US" sz="16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4773168"/>
          <a:ext cx="10515600" cy="1828800"/>
        </p:xfrm>
        <a:graphic>
          <a:graphicData uri="http://schemas.openxmlformats.org/drawingml/2006/table">
            <a:tbl>
              <a:tblPr/>
              <a:tblGrid>
                <a:gridCol w="2926080"/>
                <a:gridCol w="1828800"/>
                <a:gridCol w="1828800"/>
                <a:gridCol w="1828800"/>
                <a:gridCol w="2103120"/>
              </a:tblGrid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 Fee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Food Cost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Avg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Museum / Heritage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Nature / Parks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Adventure / Sports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₹1030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Religious / Cultural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Entertainment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₹1030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228600"/>
            <a:ext cx="1252728" cy="1143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Representation</a:t>
            </a:r>
            <a:endParaRPr lang="en-US" sz="3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55778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217920" y="1005840"/>
          <a:ext cx="55778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Chart 2" descr=""/>
          <p:cNvGraphicFramePr/>
          <p:nvPr/>
        </p:nvGraphicFramePr>
        <p:xfrm>
          <a:off x="274320" y="4480560"/>
          <a:ext cx="1152144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228600"/>
            <a:ext cx="1252728" cy="1143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3657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841248" y="1508760"/>
            <a:ext cx="10515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9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Expansion:  </a:t>
            </a:r>
            <a:pPr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traffic, crowd density, and dynamic pricing APIs via mobility platforms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841248" y="2331720"/>
            <a:ext cx="10515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9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Learning Models:  </a:t>
            </a:r>
            <a:pPr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/ Transformer-based sequence models for long-range trajectory dependencies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841248" y="3154680"/>
            <a:ext cx="10515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9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Agent Capabilities:  </a:t>
            </a:r>
            <a:pPr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itinerary planning; airline &amp; hotel booking API integration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41248" y="3977640"/>
            <a:ext cx="10515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9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Optimisation:  </a:t>
            </a:r>
            <a:pPr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α-tuning via reinforcement learning from user interaction signals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41248" y="4800600"/>
            <a:ext cx="10515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9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&amp; Regional Support:  </a:t>
            </a:r>
            <a:pPr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Cross-regional datasets; cultural context modelling for global destinations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41248" y="5623560"/>
            <a:ext cx="10515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9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Deployment:  </a:t>
            </a:r>
            <a:pPr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/ GCP with auto-scaling Docker containers and production monitoring dashboards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228600"/>
            <a:ext cx="1252728" cy="1143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3657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841248" y="146304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Y. Zhang, Q. Liu, and E. Chen, "R2Tour: A Retrieval-Augmented Tourism Recommendation Framework using GPS Trajectories and Demographic Data," IEEE Trans. Knowledge and Data Eng., vol. 35, no. 3, pp. 2145–2158, 2023.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G. Ke et al., "LightGBM: A Highly Efficient Gradient Boosting Decision Tree," in Proc. NeurIPS, pp. 3146–3154, 2017.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T. Chen and C. Guestrin, "XGBoost: A Scalable Tree Boosting System," in Proc. ACM SIGKDD, pp. 785–794, 2016.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M. Wei, H. Zhao, and S. Liu, "Budget-Aware Multi-Objective Ranking for Travel Recommendation Systems," Information Sciences, vol. 612, pp. 310–326, 2022.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S. Yao et al., "ReAct: Synergizing Reasoning and Acting in Language Models," in Proc. ICLR, 2023.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L. Wang et al., "A Survey on Large Language Model-Based Autonomous Agents," Frontiers of Computer Science, vol. 18, no. 6, 2024.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F. Ricci, L. Rokach, and B. Shapira, Recommender Systems Handbook, 3rd ed. New York: Springer, 2022.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4064" y="457200"/>
            <a:ext cx="2029968" cy="1764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10896" y="2560320"/>
            <a:ext cx="11567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3182112" y="3931920"/>
            <a:ext cx="264261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2022UEA4106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2022UEA4126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2022UEA6593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2022UEA6602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364224" y="393192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Krishna Chauhan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Lagan Mittal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Yuvraj Singh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Shivang Parmar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3246120" y="5394960"/>
            <a:ext cx="5779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Guide: C.S Vinita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419856" y="5989320"/>
            <a:ext cx="55961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Term Review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Tech. Project – II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2026-05-13T21:51:35Z</dcterms:created>
  <dcterms:modified xsi:type="dcterms:W3CDTF">2026-05-13T21:51:35Z</dcterms:modified>
</cp:coreProperties>
</file>